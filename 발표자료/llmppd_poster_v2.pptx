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4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0" autoAdjust="0"/>
    <p:restoredTop sz="95216" autoAdjust="0"/>
  </p:normalViewPr>
  <p:slideViewPr>
    <p:cSldViewPr snapToGrid="0">
      <p:cViewPr>
        <p:scale>
          <a:sx n="33" d="100"/>
          <a:sy n="33" d="100"/>
        </p:scale>
        <p:origin x="31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5DCA7-BE5A-094D-923D-9A402ECCEF06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7502-DC6D-BD49-AA88-81F342E12E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318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5912-3595-C578-2430-B18E6EEC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B9F1C5-7A96-42A5-872A-C37F32B21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181467-E2AE-A655-EF19-B995F40D1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559B3-7131-17A5-B39B-66128AFB3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7502-DC6D-BD49-AA88-81F342E12E2F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704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740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36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297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020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251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829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4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30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821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055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77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FCB59-8D35-0B46-B99D-5F2A4FC30E1A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08C3E-EC64-BB42-9451-A50ECB9EA90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29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700D6-7426-7B0B-70E8-85895C5A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TextBox 1033">
            <a:extLst>
              <a:ext uri="{FF2B5EF4-FFF2-40B4-BE49-F238E27FC236}">
                <a16:creationId xmlns:a16="http://schemas.microsoft.com/office/drawing/2014/main" id="{6282308B-E14B-5362-141F-97500585CE27}"/>
              </a:ext>
            </a:extLst>
          </p:cNvPr>
          <p:cNvSpPr txBox="1"/>
          <p:nvPr/>
        </p:nvSpPr>
        <p:spPr>
          <a:xfrm>
            <a:off x="13167883" y="14780134"/>
            <a:ext cx="9487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All LLMs evaluated exhibit media outlet name biases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in a directionally coherent manner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Most models achieve high AC scores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, reflecting alignment with human-annotated polarity directions</a:t>
            </a:r>
            <a:endParaRPr lang="en-US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SIPS increases with model size and alignment tuning</a:t>
            </a:r>
            <a:r>
              <a:rPr lang="en-US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, supporting 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prior findings that scaling and alignment amplifies bias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461D40-4D59-6D4A-5207-2C64B7F64579}"/>
              </a:ext>
            </a:extLst>
          </p:cNvPr>
          <p:cNvGrpSpPr/>
          <p:nvPr/>
        </p:nvGrpSpPr>
        <p:grpSpPr>
          <a:xfrm>
            <a:off x="497335" y="17796052"/>
            <a:ext cx="12254400" cy="21721323"/>
            <a:chOff x="455771" y="15455699"/>
            <a:chExt cx="12254400" cy="21229996"/>
          </a:xfrm>
        </p:grpSpPr>
        <p:sp>
          <p:nvSpPr>
            <p:cNvPr id="1059" name="사각형: 둥근 모서리 40">
              <a:extLst>
                <a:ext uri="{FF2B5EF4-FFF2-40B4-BE49-F238E27FC236}">
                  <a16:creationId xmlns:a16="http://schemas.microsoft.com/office/drawing/2014/main" id="{2EC31064-E07B-5B9E-9D12-A9DB0306128D}"/>
                </a:ext>
              </a:extLst>
            </p:cNvPr>
            <p:cNvSpPr/>
            <p:nvPr/>
          </p:nvSpPr>
          <p:spPr>
            <a:xfrm>
              <a:off x="455771" y="16045092"/>
              <a:ext cx="12254400" cy="20640603"/>
            </a:xfrm>
            <a:prstGeom prst="roundRect">
              <a:avLst>
                <a:gd name="adj" fmla="val 202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078" name="사각형: 둥근 모서리 40">
              <a:extLst>
                <a:ext uri="{FF2B5EF4-FFF2-40B4-BE49-F238E27FC236}">
                  <a16:creationId xmlns:a16="http://schemas.microsoft.com/office/drawing/2014/main" id="{DD06C7C4-D9AC-F310-B837-9777A86004CB}"/>
                </a:ext>
              </a:extLst>
            </p:cNvPr>
            <p:cNvSpPr/>
            <p:nvPr/>
          </p:nvSpPr>
          <p:spPr>
            <a:xfrm>
              <a:off x="455771" y="16096321"/>
              <a:ext cx="12254400" cy="127089"/>
            </a:xfrm>
            <a:prstGeom prst="roundRect">
              <a:avLst>
                <a:gd name="adj" fmla="val 0"/>
              </a:avLst>
            </a:prstGeom>
            <a:solidFill>
              <a:srgbClr val="0C2E86"/>
            </a:solidFill>
            <a:ln>
              <a:solidFill>
                <a:srgbClr val="0C2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079" name="사각형: 둥근 모서리 40">
              <a:extLst>
                <a:ext uri="{FF2B5EF4-FFF2-40B4-BE49-F238E27FC236}">
                  <a16:creationId xmlns:a16="http://schemas.microsoft.com/office/drawing/2014/main" id="{C3966EAC-0108-EEE5-AE06-0AD4FCF95C37}"/>
                </a:ext>
              </a:extLst>
            </p:cNvPr>
            <p:cNvSpPr/>
            <p:nvPr/>
          </p:nvSpPr>
          <p:spPr>
            <a:xfrm>
              <a:off x="455771" y="15455699"/>
              <a:ext cx="12254400" cy="767711"/>
            </a:xfrm>
            <a:prstGeom prst="roundRect">
              <a:avLst/>
            </a:prstGeom>
            <a:solidFill>
              <a:srgbClr val="0C2E86"/>
            </a:solidFill>
            <a:ln>
              <a:solidFill>
                <a:srgbClr val="0C2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3.</a:t>
              </a:r>
              <a:r>
                <a:rPr lang="ko-KR" altLang="en-US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 </a:t>
              </a:r>
              <a:r>
                <a:rPr lang="en" altLang="ko-KR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Measuring Media Outlet Name Bias in LLMs</a:t>
              </a:r>
              <a:endPara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056" name="사각형: 둥근 모서리 40">
            <a:extLst>
              <a:ext uri="{FF2B5EF4-FFF2-40B4-BE49-F238E27FC236}">
                <a16:creationId xmlns:a16="http://schemas.microsoft.com/office/drawing/2014/main" id="{A8A4311A-1783-99A6-9A3D-F199386ABB53}"/>
              </a:ext>
            </a:extLst>
          </p:cNvPr>
          <p:cNvSpPr/>
          <p:nvPr/>
        </p:nvSpPr>
        <p:spPr>
          <a:xfrm>
            <a:off x="529679" y="12453925"/>
            <a:ext cx="12255598" cy="5194516"/>
          </a:xfrm>
          <a:prstGeom prst="roundRect">
            <a:avLst>
              <a:gd name="adj" fmla="val 383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11" name="사각형: 둥근 모서리 40">
            <a:extLst>
              <a:ext uri="{FF2B5EF4-FFF2-40B4-BE49-F238E27FC236}">
                <a16:creationId xmlns:a16="http://schemas.microsoft.com/office/drawing/2014/main" id="{65C4F4DD-D2B1-3F72-70A0-41B624C1E96C}"/>
              </a:ext>
            </a:extLst>
          </p:cNvPr>
          <p:cNvSpPr/>
          <p:nvPr/>
        </p:nvSpPr>
        <p:spPr>
          <a:xfrm>
            <a:off x="529679" y="12557402"/>
            <a:ext cx="12239851" cy="110340"/>
          </a:xfrm>
          <a:prstGeom prst="roundRect">
            <a:avLst>
              <a:gd name="adj" fmla="val 0"/>
            </a:avLst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13" name="사각형: 둥근 모서리 40">
            <a:extLst>
              <a:ext uri="{FF2B5EF4-FFF2-40B4-BE49-F238E27FC236}">
                <a16:creationId xmlns:a16="http://schemas.microsoft.com/office/drawing/2014/main" id="{4B81648A-561E-F2EA-A895-B01147B21E19}"/>
              </a:ext>
            </a:extLst>
          </p:cNvPr>
          <p:cNvSpPr/>
          <p:nvPr/>
        </p:nvSpPr>
        <p:spPr>
          <a:xfrm>
            <a:off x="529679" y="11900032"/>
            <a:ext cx="12255598" cy="767711"/>
          </a:xfrm>
          <a:prstGeom prst="roundRect">
            <a:avLst/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2. Problem Statement</a:t>
            </a:r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2C3E78D-F05D-85E1-D9A3-F34462BA632E}"/>
              </a:ext>
            </a:extLst>
          </p:cNvPr>
          <p:cNvCxnSpPr>
            <a:cxnSpLocks/>
          </p:cNvCxnSpPr>
          <p:nvPr/>
        </p:nvCxnSpPr>
        <p:spPr>
          <a:xfrm>
            <a:off x="-7" y="4936248"/>
            <a:ext cx="30275213" cy="0"/>
          </a:xfrm>
          <a:prstGeom prst="line">
            <a:avLst/>
          </a:prstGeom>
          <a:ln w="101600">
            <a:solidFill>
              <a:srgbClr val="0C2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스크린샷, 폰트, 로고이(가) 표시된 사진&#10;&#10;자동 생성된 설명">
            <a:extLst>
              <a:ext uri="{FF2B5EF4-FFF2-40B4-BE49-F238E27FC236}">
                <a16:creationId xmlns:a16="http://schemas.microsoft.com/office/drawing/2014/main" id="{8D51603D-EC19-F377-995D-A7E327368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08" t="13252" r="26866" b="47356"/>
          <a:stretch/>
        </p:blipFill>
        <p:spPr>
          <a:xfrm>
            <a:off x="455771" y="389262"/>
            <a:ext cx="4040569" cy="3025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441C88-DCC2-0C23-C87E-75C1DF1B5918}"/>
              </a:ext>
            </a:extLst>
          </p:cNvPr>
          <p:cNvSpPr txBox="1"/>
          <p:nvPr/>
        </p:nvSpPr>
        <p:spPr>
          <a:xfrm>
            <a:off x="3165138" y="213861"/>
            <a:ext cx="239449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dirty="0">
                <a:solidFill>
                  <a:srgbClr val="0C2E86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  <a:cs typeface="Times New Roman" panose="02020603050405020304" pitchFamily="18" charset="0"/>
              </a:rPr>
              <a:t>Measuring and Mitigating Media Outlet Name Bias </a:t>
            </a:r>
          </a:p>
          <a:p>
            <a:pPr algn="ctr"/>
            <a:r>
              <a:rPr lang="en-US" altLang="ko-KR" sz="6600" b="1" dirty="0">
                <a:solidFill>
                  <a:srgbClr val="0C2E86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  <a:cs typeface="Times New Roman" panose="02020603050405020304" pitchFamily="18" charset="0"/>
              </a:rPr>
              <a:t>in Large Language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EEF38-388D-A483-FFBB-5B8C2D79BABC}"/>
              </a:ext>
            </a:extLst>
          </p:cNvPr>
          <p:cNvSpPr txBox="1"/>
          <p:nvPr/>
        </p:nvSpPr>
        <p:spPr>
          <a:xfrm>
            <a:off x="11206877" y="2306033"/>
            <a:ext cx="7861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Seong-Jin Park</a:t>
            </a:r>
            <a:r>
              <a:rPr kumimoji="1" lang="en-US" altLang="ko-KR" sz="4000" b="1" baseline="30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1</a:t>
            </a:r>
            <a:r>
              <a:rPr kumimoji="1" lang="en-US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, Kang-Min Kim</a:t>
            </a:r>
            <a:r>
              <a:rPr kumimoji="1" lang="en-US" altLang="ko-KR" sz="4000" b="1" baseline="30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1,2†</a:t>
            </a:r>
            <a:endParaRPr lang="en-US" altLang="ko-KR" sz="4000" b="1" dirty="0">
              <a:solidFill>
                <a:srgbClr val="0E0E0E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DB360-1B4A-CF8E-2FE9-B94C2C832E0D}"/>
              </a:ext>
            </a:extLst>
          </p:cNvPr>
          <p:cNvSpPr txBox="1"/>
          <p:nvPr/>
        </p:nvSpPr>
        <p:spPr>
          <a:xfrm>
            <a:off x="1099055" y="2990156"/>
            <a:ext cx="280771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8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1</a:t>
            </a:r>
            <a:r>
              <a:rPr kumimoji="1" lang="en-US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Department of Artificial Intelligence </a:t>
            </a:r>
            <a:r>
              <a:rPr kumimoji="1" lang="ko-KR" altLang="en-US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kumimoji="1" lang="en-US" altLang="ko-KR" sz="28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2</a:t>
            </a:r>
            <a:r>
              <a:rPr kumimoji="1" lang="en-US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Department of Data Science</a:t>
            </a:r>
          </a:p>
          <a:p>
            <a:pPr algn="ctr"/>
            <a:r>
              <a:rPr kumimoji="1" lang="en-US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The Catholic University of Korea, </a:t>
            </a:r>
            <a:r>
              <a:rPr kumimoji="1" lang="en-US" altLang="ko-KR" sz="28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Bucheon</a:t>
            </a:r>
            <a:r>
              <a:rPr kumimoji="1" lang="en-US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, Republic of Korea</a:t>
            </a:r>
          </a:p>
          <a:p>
            <a:pPr algn="ctr"/>
            <a:r>
              <a:rPr kumimoji="1" lang="en-US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{</a:t>
            </a:r>
            <a:r>
              <a:rPr kumimoji="1" lang="en-US" altLang="ko-KR" sz="28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sjpark</a:t>
            </a:r>
            <a:r>
              <a:rPr kumimoji="1" lang="en-US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, kangmin89}@</a:t>
            </a:r>
            <a:r>
              <a:rPr kumimoji="1" lang="en-US" altLang="ko-KR" sz="28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catholic.ac.kr</a:t>
            </a:r>
            <a:endParaRPr kumimoji="1" lang="en-US" altLang="ko-KR" sz="2800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kumimoji="1" lang="en" altLang="ko-KR" sz="28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† Corresponding author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0964A6D3-8CBB-9265-09DB-2381BE979AA0}"/>
              </a:ext>
            </a:extLst>
          </p:cNvPr>
          <p:cNvSpPr txBox="1"/>
          <p:nvPr/>
        </p:nvSpPr>
        <p:spPr>
          <a:xfrm>
            <a:off x="17286125" y="6301376"/>
            <a:ext cx="875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Political</a:t>
            </a:r>
            <a:r>
              <a:rPr lang="en-US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Bias Prediction</a:t>
            </a:r>
            <a:endParaRPr lang="en" altLang="ko-KR" sz="3200" u="sng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E25324F8-E970-82D9-B1BC-B9F542A8C3B1}"/>
              </a:ext>
            </a:extLst>
          </p:cNvPr>
          <p:cNvSpPr txBox="1"/>
          <p:nvPr/>
        </p:nvSpPr>
        <p:spPr>
          <a:xfrm>
            <a:off x="13604293" y="37215767"/>
            <a:ext cx="158856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This study demonstrates that LLMs exhibit consistent political bias toward media outlet names, responding to both real and fictional outlets through linguistic cues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We 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introduce SIPS, AS, and AC metrics to quantify this bias and develop an automated prompt optimization framework that successfully reduces bias through prompting</a:t>
            </a:r>
            <a:endParaRPr lang="en-US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E463D8-3919-6C9B-131B-0786455D5FFC}"/>
              </a:ext>
            </a:extLst>
          </p:cNvPr>
          <p:cNvSpPr txBox="1"/>
          <p:nvPr/>
        </p:nvSpPr>
        <p:spPr>
          <a:xfrm>
            <a:off x="618926" y="18762500"/>
            <a:ext cx="11973761" cy="21051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Overview</a:t>
            </a:r>
          </a:p>
          <a:p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We conduct controlled experiments using real-world news articles to analyze how media outlet names influence LLM behavior in two tasks: </a:t>
            </a:r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political bias prediction 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and </a:t>
            </a:r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summarization</a:t>
            </a:r>
            <a:endParaRPr lang="en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Political Bias Prediction</a:t>
            </a:r>
          </a:p>
          <a:p>
            <a:r>
              <a:rPr lang="en-US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A. </a:t>
            </a:r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News Article Political Bias Prediction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Given a news article a and media outlet name o, the LLM predicts political bias as: {left, center, right} → mapped to {-1, 0, 1}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</a:t>
            </a:r>
            <a:r>
              <a:rPr lang="en" altLang="ko-KR" sz="3200" spc="-70" dirty="0" err="1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rticle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is evaluated with an outlet name o and without (baseline)</a:t>
            </a:r>
          </a:p>
          <a:p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B. Measuring Prediction Shift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Outlet-induced shift for article a: </a:t>
            </a: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d(</a:t>
            </a:r>
            <a:r>
              <a:rPr lang="en" altLang="ko-KR" sz="3200" spc="-70" dirty="0" err="1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o,a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) = </a:t>
            </a:r>
            <a:r>
              <a:rPr lang="en" altLang="ko-KR" sz="3200" spc="-70" dirty="0" err="1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prediction_with_outlet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- </a:t>
            </a:r>
            <a:r>
              <a:rPr lang="en" altLang="ko-KR" sz="3200" spc="-70" dirty="0" err="1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prediction_without_outlet</a:t>
            </a:r>
            <a:endParaRPr lang="en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Average shift for outlet o: </a:t>
            </a: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S(o) = average shift across all articles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Class-level shift for bias class g (left/center/right): </a:t>
            </a: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S(g) = average S(o) for all outlets in class g</a:t>
            </a:r>
          </a:p>
          <a:p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C. Interpreting Bias Patterns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Plotting S(g) across the political spectrum reveals bias patterns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Unbiased model → flat S(g) curve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Biased model → steep S(g) slope</a:t>
            </a:r>
          </a:p>
          <a:p>
            <a:pPr marL="457200" indent="-457200">
              <a:buFontTx/>
              <a:buChar char="-"/>
            </a:pPr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r>
              <a:rPr lang="en-US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D. </a:t>
            </a:r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The SIPS Metric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Media outlet name-induced bias has two key components:</a:t>
            </a: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Magnitude → How much predictions shift (AS)</a:t>
            </a: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b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Direction → </a:t>
            </a:r>
            <a:r>
              <a:rPr lang="en-US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How 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</a:t>
            </a:r>
            <a:r>
              <a:rPr lang="en" altLang="ko-KR" sz="3200" dirty="0"/>
              <a:t>hifts match outlet's political lean (AC)</a:t>
            </a:r>
            <a:br>
              <a:rPr lang="en" altLang="ko-KR" sz="3200" dirty="0"/>
            </a:br>
            <a:br>
              <a:rPr lang="en" altLang="ko-KR" sz="3200" dirty="0"/>
            </a:br>
            <a:endParaRPr lang="en" altLang="ko-KR" sz="3200" dirty="0"/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SIPS captures both dimensions in a unified metric</a:t>
            </a:r>
          </a:p>
          <a:p>
            <a:pPr marL="914400" lvl="1" indent="-457200">
              <a:buFont typeface="Wingdings" pitchFamily="2" charset="2"/>
              <a:buChar char="§"/>
            </a:pPr>
            <a:endParaRPr lang="en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914400" lvl="1" indent="-457200">
              <a:buFont typeface="Wingdings" pitchFamily="2" charset="2"/>
              <a:buChar char="§"/>
            </a:pPr>
            <a:endParaRPr lang="en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914400" lvl="1" indent="-457200">
              <a:buFont typeface="Wingdings" pitchFamily="2" charset="2"/>
              <a:buChar char="§"/>
            </a:pPr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Summarization</a:t>
            </a:r>
            <a:endParaRPr lang="en" altLang="ko-KR" sz="3200" b="1" dirty="0">
              <a:solidFill>
                <a:srgbClr val="0C2E86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A. Method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Same article content with different media outlet names across 3 political bias categories</a:t>
            </a:r>
          </a:p>
          <a:p>
            <a:pPr marL="914400" lvl="1" indent="-457200">
              <a:buFont typeface="Wingdings" pitchFamily="2" charset="2"/>
              <a:buChar char="§"/>
            </a:pPr>
            <a:endParaRPr lang="en" altLang="ko-KR" sz="10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  <a:p>
            <a:r>
              <a:rPr lang="en" altLang="ko-KR" sz="3200" b="1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B. Analysis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NER + Sentiment Analysis: Extract named entities and analyze sentiment changes (positive/negative/neutral)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Human Evaluation: Crowdsourced study on perceived political bias in LLM-generated summaries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EE18AD74-85F6-2823-599C-8E8D76FF94E3}"/>
              </a:ext>
            </a:extLst>
          </p:cNvPr>
          <p:cNvSpPr txBox="1"/>
          <p:nvPr/>
        </p:nvSpPr>
        <p:spPr>
          <a:xfrm>
            <a:off x="618926" y="40651907"/>
            <a:ext cx="290892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2800" dirty="0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Bang, Yejin, et al. "Measuring Political Bias in Large Language Models: What Is Said and How It Is Said." ACL 2024.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2800" dirty="0" err="1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Entman</a:t>
            </a:r>
            <a:r>
              <a:rPr lang="en" altLang="ko-KR" sz="2800" dirty="0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, Robert M. "Framing: Towards clarification of a fractured paradigm." </a:t>
            </a:r>
            <a:r>
              <a:rPr lang="en" altLang="ko-KR" sz="2800" dirty="0" err="1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McQuail's</a:t>
            </a:r>
            <a:r>
              <a:rPr lang="en" altLang="ko-KR" sz="2800" dirty="0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reader in mass communication theory 390 (1993): 397.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2800" dirty="0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Parrots, Stochastic. "Can Language Models Be Too Big." Proceedings of the 2021 ACM (2021). </a:t>
            </a:r>
          </a:p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Yang, </a:t>
            </a:r>
            <a:r>
              <a:rPr lang="en-US" altLang="ko-KR" sz="2800" dirty="0" err="1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Chengrun</a:t>
            </a:r>
            <a:r>
              <a:rPr lang="en-US" altLang="ko-KR" sz="2800" dirty="0"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, et al. "Large language models as optimizers." The Twelfth International Conference on Learning Representations. 2023.</a:t>
            </a:r>
            <a:endParaRPr lang="ko-KR" altLang="ko-KR" sz="2800" dirty="0"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</p:txBody>
      </p:sp>
      <p:sp>
        <p:nvSpPr>
          <p:cNvPr id="1086" name="사각형: 둥근 모서리 40">
            <a:extLst>
              <a:ext uri="{FF2B5EF4-FFF2-40B4-BE49-F238E27FC236}">
                <a16:creationId xmlns:a16="http://schemas.microsoft.com/office/drawing/2014/main" id="{E4894326-8F18-5205-73D8-E9A02287297F}"/>
              </a:ext>
            </a:extLst>
          </p:cNvPr>
          <p:cNvSpPr/>
          <p:nvPr/>
        </p:nvSpPr>
        <p:spPr>
          <a:xfrm>
            <a:off x="455771" y="40075682"/>
            <a:ext cx="29415599" cy="2483306"/>
          </a:xfrm>
          <a:prstGeom prst="roundRect">
            <a:avLst>
              <a:gd name="adj" fmla="val 383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088" name="사각형: 둥근 모서리 40">
            <a:extLst>
              <a:ext uri="{FF2B5EF4-FFF2-40B4-BE49-F238E27FC236}">
                <a16:creationId xmlns:a16="http://schemas.microsoft.com/office/drawing/2014/main" id="{932EE8D2-D9CA-4449-0C33-E15E8BC18847}"/>
              </a:ext>
            </a:extLst>
          </p:cNvPr>
          <p:cNvSpPr/>
          <p:nvPr/>
        </p:nvSpPr>
        <p:spPr>
          <a:xfrm>
            <a:off x="455771" y="39880550"/>
            <a:ext cx="29415599" cy="127089"/>
          </a:xfrm>
          <a:prstGeom prst="roundRect">
            <a:avLst>
              <a:gd name="adj" fmla="val 0"/>
            </a:avLst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089" name="사각형: 둥근 모서리 40">
            <a:extLst>
              <a:ext uri="{FF2B5EF4-FFF2-40B4-BE49-F238E27FC236}">
                <a16:creationId xmlns:a16="http://schemas.microsoft.com/office/drawing/2014/main" id="{9C660E53-585F-6E67-F148-7B3E5BF1C2B2}"/>
              </a:ext>
            </a:extLst>
          </p:cNvPr>
          <p:cNvSpPr/>
          <p:nvPr/>
        </p:nvSpPr>
        <p:spPr>
          <a:xfrm>
            <a:off x="455771" y="39716245"/>
            <a:ext cx="29415599" cy="767711"/>
          </a:xfrm>
          <a:prstGeom prst="roundRect">
            <a:avLst/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References</a:t>
            </a:r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00" name="사각형: 둥근 모서리 40">
            <a:extLst>
              <a:ext uri="{FF2B5EF4-FFF2-40B4-BE49-F238E27FC236}">
                <a16:creationId xmlns:a16="http://schemas.microsoft.com/office/drawing/2014/main" id="{97848987-98A8-89F3-66C2-5DA70948F0F7}"/>
              </a:ext>
            </a:extLst>
          </p:cNvPr>
          <p:cNvSpPr/>
          <p:nvPr/>
        </p:nvSpPr>
        <p:spPr>
          <a:xfrm>
            <a:off x="13050981" y="36728619"/>
            <a:ext cx="16768800" cy="2791303"/>
          </a:xfrm>
          <a:prstGeom prst="roundRect">
            <a:avLst>
              <a:gd name="adj" fmla="val 338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01" name="사각형: 둥근 모서리 40">
            <a:extLst>
              <a:ext uri="{FF2B5EF4-FFF2-40B4-BE49-F238E27FC236}">
                <a16:creationId xmlns:a16="http://schemas.microsoft.com/office/drawing/2014/main" id="{EC4092AC-B029-B6CB-5914-7B2FC8E64F2C}"/>
              </a:ext>
            </a:extLst>
          </p:cNvPr>
          <p:cNvSpPr/>
          <p:nvPr/>
        </p:nvSpPr>
        <p:spPr>
          <a:xfrm>
            <a:off x="13050981" y="36280966"/>
            <a:ext cx="16768800" cy="767711"/>
          </a:xfrm>
          <a:prstGeom prst="roundRect">
            <a:avLst/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7</a:t>
            </a:r>
            <a:r>
              <a:rPr lang="en-US" altLang="ko-KR" sz="3700" b="1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. </a:t>
            </a:r>
            <a:r>
              <a: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Conclusions</a:t>
            </a:r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02" name="사각형: 둥근 모서리 40">
            <a:extLst>
              <a:ext uri="{FF2B5EF4-FFF2-40B4-BE49-F238E27FC236}">
                <a16:creationId xmlns:a16="http://schemas.microsoft.com/office/drawing/2014/main" id="{960460F5-DD8B-2062-4351-4D7ECDD85090}"/>
              </a:ext>
            </a:extLst>
          </p:cNvPr>
          <p:cNvSpPr/>
          <p:nvPr/>
        </p:nvSpPr>
        <p:spPr>
          <a:xfrm>
            <a:off x="13050981" y="36921588"/>
            <a:ext cx="16768800" cy="127089"/>
          </a:xfrm>
          <a:prstGeom prst="roundRect">
            <a:avLst>
              <a:gd name="adj" fmla="val 0"/>
            </a:avLst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25" name="사각형: 둥근 모서리 40">
            <a:extLst>
              <a:ext uri="{FF2B5EF4-FFF2-40B4-BE49-F238E27FC236}">
                <a16:creationId xmlns:a16="http://schemas.microsoft.com/office/drawing/2014/main" id="{AB7C1F96-73AE-85BA-7990-A65133D295C9}"/>
              </a:ext>
            </a:extLst>
          </p:cNvPr>
          <p:cNvSpPr/>
          <p:nvPr/>
        </p:nvSpPr>
        <p:spPr>
          <a:xfrm>
            <a:off x="13050981" y="5929107"/>
            <a:ext cx="16768800" cy="19063210"/>
          </a:xfrm>
          <a:prstGeom prst="roundRect">
            <a:avLst>
              <a:gd name="adj" fmla="val 154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1E17D4-99AE-6B8A-68FA-83100EEA016E}"/>
              </a:ext>
            </a:extLst>
          </p:cNvPr>
          <p:cNvGrpSpPr/>
          <p:nvPr/>
        </p:nvGrpSpPr>
        <p:grpSpPr>
          <a:xfrm>
            <a:off x="13050981" y="5325506"/>
            <a:ext cx="16769649" cy="780489"/>
            <a:chOff x="13050981" y="20856440"/>
            <a:chExt cx="16769649" cy="780489"/>
          </a:xfrm>
        </p:grpSpPr>
        <p:sp>
          <p:nvSpPr>
            <p:cNvPr id="1121" name="사각형: 둥근 모서리 40">
              <a:extLst>
                <a:ext uri="{FF2B5EF4-FFF2-40B4-BE49-F238E27FC236}">
                  <a16:creationId xmlns:a16="http://schemas.microsoft.com/office/drawing/2014/main" id="{FFFA0575-C928-ED76-C7CB-5A3F023FA316}"/>
                </a:ext>
              </a:extLst>
            </p:cNvPr>
            <p:cNvSpPr/>
            <p:nvPr/>
          </p:nvSpPr>
          <p:spPr>
            <a:xfrm>
              <a:off x="13050981" y="21509840"/>
              <a:ext cx="16768800" cy="127089"/>
            </a:xfrm>
            <a:prstGeom prst="roundRect">
              <a:avLst>
                <a:gd name="adj" fmla="val 0"/>
              </a:avLst>
            </a:prstGeom>
            <a:solidFill>
              <a:srgbClr val="0C2E86"/>
            </a:solidFill>
            <a:ln>
              <a:solidFill>
                <a:srgbClr val="0C2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129" name="사각형: 둥근 모서리 40">
              <a:extLst>
                <a:ext uri="{FF2B5EF4-FFF2-40B4-BE49-F238E27FC236}">
                  <a16:creationId xmlns:a16="http://schemas.microsoft.com/office/drawing/2014/main" id="{84BA5C5D-C5A5-296D-1107-0DF193240338}"/>
                </a:ext>
              </a:extLst>
            </p:cNvPr>
            <p:cNvSpPr/>
            <p:nvPr/>
          </p:nvSpPr>
          <p:spPr>
            <a:xfrm>
              <a:off x="13050981" y="20856440"/>
              <a:ext cx="16769649" cy="767711"/>
            </a:xfrm>
            <a:prstGeom prst="roundRect">
              <a:avLst/>
            </a:prstGeom>
            <a:solidFill>
              <a:srgbClr val="0C2E86"/>
            </a:solidFill>
            <a:ln>
              <a:solidFill>
                <a:srgbClr val="0C2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4.</a:t>
              </a:r>
              <a:r>
                <a:rPr lang="ko-KR" altLang="en-US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Experimental Results</a:t>
              </a:r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62F9DC-A431-1A9D-EFFD-B5003C30100D}"/>
              </a:ext>
            </a:extLst>
          </p:cNvPr>
          <p:cNvGrpSpPr/>
          <p:nvPr/>
        </p:nvGrpSpPr>
        <p:grpSpPr>
          <a:xfrm>
            <a:off x="517616" y="5325506"/>
            <a:ext cx="12255600" cy="6422470"/>
            <a:chOff x="454571" y="5595418"/>
            <a:chExt cx="12255600" cy="6422470"/>
          </a:xfrm>
        </p:grpSpPr>
        <p:sp>
          <p:nvSpPr>
            <p:cNvPr id="23" name="사각형: 둥근 모서리 40">
              <a:extLst>
                <a:ext uri="{FF2B5EF4-FFF2-40B4-BE49-F238E27FC236}">
                  <a16:creationId xmlns:a16="http://schemas.microsoft.com/office/drawing/2014/main" id="{7C7A51F8-1CF1-6963-2937-7C2CC2B61CDA}"/>
                </a:ext>
              </a:extLst>
            </p:cNvPr>
            <p:cNvSpPr/>
            <p:nvPr/>
          </p:nvSpPr>
          <p:spPr>
            <a:xfrm>
              <a:off x="455771" y="6007617"/>
              <a:ext cx="12254400" cy="6010271"/>
            </a:xfrm>
            <a:prstGeom prst="roundRect">
              <a:avLst>
                <a:gd name="adj" fmla="val 185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35791B-DCF1-4E8F-7D0B-A6FE45F64D9F}"/>
                </a:ext>
              </a:extLst>
            </p:cNvPr>
            <p:cNvSpPr txBox="1"/>
            <p:nvPr/>
          </p:nvSpPr>
          <p:spPr>
            <a:xfrm>
              <a:off x="635243" y="6323754"/>
              <a:ext cx="11894400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00" dirty="0">
                <a:solidFill>
                  <a:srgbClr val="000000"/>
                </a:solidFill>
                <a:effectLst/>
                <a:latin typeface="Apple SD Gothic Neo Medium" panose="02000300000000000000" pitchFamily="2" charset="-127"/>
                <a:ea typeface="Apple SD Gothic Neo Medium" panose="02000300000000000000" pitchFamily="2" charset="-12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ko-KR" sz="3200" dirty="0">
                  <a:solidFill>
                    <a:srgbClr val="000000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Prior research has extensively explored </a:t>
              </a:r>
              <a:r>
                <a:rPr lang="en-US" altLang="ko-KR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political</a:t>
              </a:r>
              <a:r>
                <a:rPr lang="ko-KR" altLang="en-US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 </a:t>
              </a:r>
              <a:r>
                <a:rPr lang="en-US" altLang="ko-KR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biases in large language models’ (LLMs)</a:t>
              </a:r>
              <a:r>
                <a:rPr lang="en-US" altLang="ko-KR" sz="3200" dirty="0">
                  <a:solidFill>
                    <a:srgbClr val="000000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 text generation and perception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ko-KR" sz="1000" dirty="0">
                <a:solidFill>
                  <a:srgbClr val="000000"/>
                </a:solidFill>
                <a:effectLst/>
                <a:latin typeface="Apple SD Gothic Neo Medium" panose="02000300000000000000" pitchFamily="2" charset="-127"/>
                <a:ea typeface="Apple SD Gothic Neo Medium" panose="02000300000000000000" pitchFamily="2" charset="-12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ko-KR" sz="3200" dirty="0">
                  <a:solidFill>
                    <a:srgbClr val="000000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However, </a:t>
              </a:r>
              <a:r>
                <a:rPr lang="en-US" altLang="ko-KR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limited attention has been devoted</a:t>
              </a:r>
              <a:r>
                <a:rPr lang="en-US" altLang="ko-KR" sz="3200" dirty="0">
                  <a:solidFill>
                    <a:srgbClr val="000000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 to biases associated with </a:t>
              </a:r>
              <a:r>
                <a:rPr lang="en-US" altLang="ko-KR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media outlet names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ko-KR" sz="1000" b="1" u="sng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" altLang="ko-KR" sz="3200" dirty="0"/>
                <a:t>In the concept of media framing, where presentation and </a:t>
              </a:r>
              <a:r>
                <a:rPr lang="en" altLang="ko-KR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context (e.g., the source’s identity) can alter an audience’s judgment</a:t>
              </a:r>
              <a:r>
                <a:rPr lang="en" altLang="ko-KR" sz="3200" dirty="0"/>
                <a:t> of the information’s meaning and slant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" altLang="ko-KR" sz="10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" altLang="ko-KR" sz="3200" dirty="0"/>
                <a:t>Since LLMs are known to absorb the biases present in their training data, </a:t>
              </a:r>
              <a:r>
                <a:rPr lang="en" altLang="ko-KR" sz="3200" b="1" u="sng" dirty="0">
                  <a:solidFill>
                    <a:srgbClr val="0C2E86"/>
                  </a:solidFill>
                  <a:latin typeface="Apple SD Gothic Neo Medium" panose="02000300000000000000" pitchFamily="2" charset="-127"/>
                  <a:ea typeface="Apple SD Gothic Neo Medium" panose="02000300000000000000" pitchFamily="2" charset="-127"/>
                </a:rPr>
                <a:t>it is plausible that they may also internalize public biases associated with media outlet names</a:t>
              </a:r>
            </a:p>
          </p:txBody>
        </p:sp>
        <p:sp>
          <p:nvSpPr>
            <p:cNvPr id="1066" name="사각형: 둥근 모서리 40">
              <a:extLst>
                <a:ext uri="{FF2B5EF4-FFF2-40B4-BE49-F238E27FC236}">
                  <a16:creationId xmlns:a16="http://schemas.microsoft.com/office/drawing/2014/main" id="{E0883D58-EF47-35EF-3269-E931E43E8CC5}"/>
                </a:ext>
              </a:extLst>
            </p:cNvPr>
            <p:cNvSpPr/>
            <p:nvPr/>
          </p:nvSpPr>
          <p:spPr>
            <a:xfrm>
              <a:off x="454571" y="5595418"/>
              <a:ext cx="12255600" cy="767711"/>
            </a:xfrm>
            <a:prstGeom prst="roundRect">
              <a:avLst/>
            </a:prstGeom>
            <a:solidFill>
              <a:srgbClr val="0C2E86"/>
            </a:solidFill>
            <a:ln>
              <a:solidFill>
                <a:srgbClr val="0C2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700" b="1" dirty="0">
                  <a:latin typeface="Apple SD Gothic Neo" panose="02000300000000000000" pitchFamily="2" charset="-127"/>
                  <a:ea typeface="Apple SD Gothic Neo" panose="02000300000000000000" pitchFamily="2" charset="-127"/>
                  <a:cs typeface="Times New Roman" panose="02020603050405020304" pitchFamily="18" charset="0"/>
                </a:rPr>
                <a:t>1. Background</a:t>
              </a:r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3" name="사각형: 둥근 모서리 40">
              <a:extLst>
                <a:ext uri="{FF2B5EF4-FFF2-40B4-BE49-F238E27FC236}">
                  <a16:creationId xmlns:a16="http://schemas.microsoft.com/office/drawing/2014/main" id="{833ECF8C-0B65-ABFB-CD17-CED84D37DB1A}"/>
                </a:ext>
              </a:extLst>
            </p:cNvPr>
            <p:cNvSpPr/>
            <p:nvPr/>
          </p:nvSpPr>
          <p:spPr>
            <a:xfrm>
              <a:off x="455771" y="6191329"/>
              <a:ext cx="12254400" cy="171800"/>
            </a:xfrm>
            <a:prstGeom prst="roundRect">
              <a:avLst>
                <a:gd name="adj" fmla="val 0"/>
              </a:avLst>
            </a:prstGeom>
            <a:solidFill>
              <a:srgbClr val="0C2E86"/>
            </a:solidFill>
            <a:ln>
              <a:solidFill>
                <a:srgbClr val="0C2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091" name="사각형: 둥근 모서리 40">
            <a:extLst>
              <a:ext uri="{FF2B5EF4-FFF2-40B4-BE49-F238E27FC236}">
                <a16:creationId xmlns:a16="http://schemas.microsoft.com/office/drawing/2014/main" id="{1A749573-6013-415C-1F0E-99EA76FCD144}"/>
              </a:ext>
            </a:extLst>
          </p:cNvPr>
          <p:cNvSpPr/>
          <p:nvPr/>
        </p:nvSpPr>
        <p:spPr>
          <a:xfrm>
            <a:off x="13050981" y="25797229"/>
            <a:ext cx="16768800" cy="127089"/>
          </a:xfrm>
          <a:prstGeom prst="roundRect">
            <a:avLst>
              <a:gd name="adj" fmla="val 0"/>
            </a:avLst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096" name="사각형: 둥근 모서리 40">
            <a:extLst>
              <a:ext uri="{FF2B5EF4-FFF2-40B4-BE49-F238E27FC236}">
                <a16:creationId xmlns:a16="http://schemas.microsoft.com/office/drawing/2014/main" id="{331A9339-6A1A-3CB9-2BB0-AA88D5F808A7}"/>
              </a:ext>
            </a:extLst>
          </p:cNvPr>
          <p:cNvSpPr/>
          <p:nvPr/>
        </p:nvSpPr>
        <p:spPr>
          <a:xfrm>
            <a:off x="13050981" y="25611627"/>
            <a:ext cx="16768800" cy="4943190"/>
          </a:xfrm>
          <a:prstGeom prst="roundRect">
            <a:avLst>
              <a:gd name="adj" fmla="val 248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1104" name="사각형: 둥근 모서리 40">
            <a:extLst>
              <a:ext uri="{FF2B5EF4-FFF2-40B4-BE49-F238E27FC236}">
                <a16:creationId xmlns:a16="http://schemas.microsoft.com/office/drawing/2014/main" id="{E9C77F35-E858-3A32-529A-BA2BFBFCCBE2}"/>
              </a:ext>
            </a:extLst>
          </p:cNvPr>
          <p:cNvSpPr/>
          <p:nvPr/>
        </p:nvSpPr>
        <p:spPr>
          <a:xfrm>
            <a:off x="13050981" y="25156607"/>
            <a:ext cx="16768800" cy="767711"/>
          </a:xfrm>
          <a:prstGeom prst="roundRect">
            <a:avLst/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5. Analysis</a:t>
            </a:r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FD6B52E-01CA-D5BE-900D-80AFD4A58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9354" y="567019"/>
            <a:ext cx="4728297" cy="77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9A11BBC-CACF-A74C-8DF4-184047404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5811" y="1987623"/>
            <a:ext cx="1578512" cy="159372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5E75F40-533B-B793-3A8F-B85B398608D3}"/>
              </a:ext>
            </a:extLst>
          </p:cNvPr>
          <p:cNvSpPr txBox="1"/>
          <p:nvPr/>
        </p:nvSpPr>
        <p:spPr>
          <a:xfrm>
            <a:off x="24838568" y="3855687"/>
            <a:ext cx="2752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/>
              <a:t>Author </a:t>
            </a:r>
            <a:r>
              <a:rPr kumimoji="1" lang="en-US" altLang="ko-KR" sz="2800" b="1" dirty="0" err="1"/>
              <a:t>Linkedin</a:t>
            </a:r>
            <a:endParaRPr kumimoji="1" lang="ko-KR" altLang="en-US" sz="2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DDCBB5-9253-977F-69E8-2D2FBEA39505}"/>
              </a:ext>
            </a:extLst>
          </p:cNvPr>
          <p:cNvSpPr txBox="1"/>
          <p:nvPr/>
        </p:nvSpPr>
        <p:spPr>
          <a:xfrm>
            <a:off x="27975064" y="3855687"/>
            <a:ext cx="1888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/>
              <a:t>Paper Link</a:t>
            </a:r>
            <a:endParaRPr kumimoji="1" lang="ko-KR" altLang="en-US" sz="2800" b="1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3F8D523C-7F40-AE7F-CB16-18BB485C0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71" y="3566860"/>
            <a:ext cx="4040569" cy="100728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B8BAEE2-E38F-87D8-08AB-901559F55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77449" y="1914113"/>
            <a:ext cx="1683887" cy="1694545"/>
          </a:xfrm>
          <a:prstGeom prst="rect">
            <a:avLst/>
          </a:prstGeom>
        </p:spPr>
      </p:pic>
      <p:pic>
        <p:nvPicPr>
          <p:cNvPr id="1033" name="그림 1032">
            <a:extLst>
              <a:ext uri="{FF2B5EF4-FFF2-40B4-BE49-F238E27FC236}">
                <a16:creationId xmlns:a16="http://schemas.microsoft.com/office/drawing/2014/main" id="{64D2067C-D5D4-9880-4C32-CDE1724762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288" y="12990796"/>
            <a:ext cx="7476858" cy="43345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7375AE-2676-69CE-02CB-00E978554F47}"/>
              </a:ext>
            </a:extLst>
          </p:cNvPr>
          <p:cNvSpPr txBox="1"/>
          <p:nvPr/>
        </p:nvSpPr>
        <p:spPr>
          <a:xfrm>
            <a:off x="8095784" y="12723578"/>
            <a:ext cx="4496903" cy="48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Do LLMs exhibit political biases in response to media outlet names themselves?</a:t>
            </a:r>
          </a:p>
          <a:p>
            <a:pPr algn="ctr">
              <a:lnSpc>
                <a:spcPct val="140000"/>
              </a:lnSpc>
            </a:pPr>
            <a:r>
              <a:rPr lang="en-US" altLang="ko-KR" sz="3200" b="1" spc="-70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  <a:sym typeface="Wingdings" panose="05000000000000000000" pitchFamily="2" charset="2"/>
              </a:rPr>
              <a:t></a:t>
            </a:r>
            <a:r>
              <a:rPr lang="en-US" altLang="ko-KR" sz="3200" b="1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</a:t>
            </a:r>
            <a:r>
              <a:rPr lang="en-US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Media outlet names can induce </a:t>
            </a:r>
            <a:br>
              <a:rPr lang="en-US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</a:br>
            <a:r>
              <a:rPr lang="en-US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anchoring effects!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0CF02E-D17A-216A-4DA7-A1A8FFA68B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2246" y="30647806"/>
            <a:ext cx="4667119" cy="9967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89B2E28-D326-9308-7032-5B69D93860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4071" y="32088185"/>
            <a:ext cx="5337202" cy="99670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17BCB4-1774-A6E6-58EE-EF3120C63D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0859" y="33542487"/>
            <a:ext cx="2829892" cy="101391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330B619-8B6F-B167-A2F9-13C3444FA8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5944" y="6954194"/>
            <a:ext cx="14249821" cy="780317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E6196F0-23FB-776F-F85D-AFBE7EC1EB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38653" y="15268088"/>
            <a:ext cx="7067490" cy="256352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6BC2D11-D975-B7C9-146A-68270CE04D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39438" y="26372248"/>
            <a:ext cx="6099874" cy="194709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61BC268-ACBF-6880-80AB-992290D723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09329" y="26052303"/>
            <a:ext cx="3504663" cy="25869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754DB75-10D7-7C91-61C8-41DF7BDF772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171381" y="22390034"/>
            <a:ext cx="7318603" cy="21643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F6D79A1-F964-73FF-6297-34095926C66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496043" y="31709743"/>
            <a:ext cx="16102189" cy="251351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731EF05-5957-A8D7-244E-0E00458FBEA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06140" y="18946953"/>
            <a:ext cx="13058478" cy="3058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DC1E4C8-BF8B-444C-3223-73D313BC35FC}"/>
              </a:ext>
            </a:extLst>
          </p:cNvPr>
          <p:cNvSpPr txBox="1"/>
          <p:nvPr/>
        </p:nvSpPr>
        <p:spPr>
          <a:xfrm>
            <a:off x="17059536" y="18392120"/>
            <a:ext cx="875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Summarization</a:t>
            </a:r>
            <a:endParaRPr lang="en" altLang="ko-KR" sz="3200" u="sng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B085F9-C2A1-613D-4A8D-9A714A37EC6C}"/>
              </a:ext>
            </a:extLst>
          </p:cNvPr>
          <p:cNvSpPr txBox="1"/>
          <p:nvPr/>
        </p:nvSpPr>
        <p:spPr>
          <a:xfrm>
            <a:off x="13167883" y="21945328"/>
            <a:ext cx="97716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Named entity sentiment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in generated summaries </a:t>
            </a: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varies by attributed outlet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Llama-3.3-70B-Instruct ignored prompts and </a:t>
            </a: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appended mismatch notes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4/5 annotators detected bias shifts</a:t>
            </a: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 more than consistent perceptions across outlets</a:t>
            </a:r>
          </a:p>
        </p:txBody>
      </p: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3F88F503-317A-06E1-7AC7-2059D59283EB}"/>
              </a:ext>
            </a:extLst>
          </p:cNvPr>
          <p:cNvCxnSpPr>
            <a:cxnSpLocks/>
          </p:cNvCxnSpPr>
          <p:nvPr/>
        </p:nvCxnSpPr>
        <p:spPr>
          <a:xfrm>
            <a:off x="13167883" y="18294356"/>
            <a:ext cx="16537068" cy="0"/>
          </a:xfrm>
          <a:prstGeom prst="line">
            <a:avLst/>
          </a:prstGeom>
          <a:ln w="50800">
            <a:solidFill>
              <a:srgbClr val="0C2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40">
            <a:extLst>
              <a:ext uri="{FF2B5EF4-FFF2-40B4-BE49-F238E27FC236}">
                <a16:creationId xmlns:a16="http://schemas.microsoft.com/office/drawing/2014/main" id="{40989206-0270-8370-7226-64A65D9577CE}"/>
              </a:ext>
            </a:extLst>
          </p:cNvPr>
          <p:cNvSpPr/>
          <p:nvPr/>
        </p:nvSpPr>
        <p:spPr>
          <a:xfrm>
            <a:off x="13050981" y="31404986"/>
            <a:ext cx="16768800" cy="127089"/>
          </a:xfrm>
          <a:prstGeom prst="roundRect">
            <a:avLst>
              <a:gd name="adj" fmla="val 0"/>
            </a:avLst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7" name="사각형: 둥근 모서리 40">
            <a:extLst>
              <a:ext uri="{FF2B5EF4-FFF2-40B4-BE49-F238E27FC236}">
                <a16:creationId xmlns:a16="http://schemas.microsoft.com/office/drawing/2014/main" id="{792F0E62-536E-0E62-BDC5-FFE5A39ED62A}"/>
              </a:ext>
            </a:extLst>
          </p:cNvPr>
          <p:cNvSpPr/>
          <p:nvPr/>
        </p:nvSpPr>
        <p:spPr>
          <a:xfrm>
            <a:off x="13050981" y="31219384"/>
            <a:ext cx="16768800" cy="4852035"/>
          </a:xfrm>
          <a:prstGeom prst="roundRect">
            <a:avLst>
              <a:gd name="adj" fmla="val 248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8" name="사각형: 둥근 모서리 40">
            <a:extLst>
              <a:ext uri="{FF2B5EF4-FFF2-40B4-BE49-F238E27FC236}">
                <a16:creationId xmlns:a16="http://schemas.microsoft.com/office/drawing/2014/main" id="{51438B54-E4CA-CE77-253F-B4851CF2C828}"/>
              </a:ext>
            </a:extLst>
          </p:cNvPr>
          <p:cNvSpPr/>
          <p:nvPr/>
        </p:nvSpPr>
        <p:spPr>
          <a:xfrm>
            <a:off x="13050981" y="30764364"/>
            <a:ext cx="16768800" cy="767711"/>
          </a:xfrm>
          <a:prstGeom prst="roundRect">
            <a:avLst/>
          </a:prstGeom>
          <a:solidFill>
            <a:srgbClr val="0C2E86"/>
          </a:solidFill>
          <a:ln>
            <a:solidFill>
              <a:srgbClr val="0C2E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6. </a:t>
            </a:r>
            <a:r>
              <a:rPr lang="en" altLang="ko-KR" sz="37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anose="02020603050405020304" pitchFamily="18" charset="0"/>
              </a:rPr>
              <a:t>Mitigating Media Outlet Name Bias</a:t>
            </a:r>
            <a:endParaRPr lang="ko-KR" altLang="en-US" sz="3700" b="1" dirty="0">
              <a:latin typeface="Apple SD Gothic Neo" panose="02000300000000000000" pitchFamily="2" charset="-127"/>
              <a:ea typeface="Apple SD Gothic Neo" panose="02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79912F-33CE-152B-1C6C-08706FA2C8DD}"/>
              </a:ext>
            </a:extLst>
          </p:cNvPr>
          <p:cNvSpPr txBox="1"/>
          <p:nvPr/>
        </p:nvSpPr>
        <p:spPr>
          <a:xfrm>
            <a:off x="13496042" y="34354573"/>
            <a:ext cx="15993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We apply an initial prompt to each article to compute its corresponding AC, AS, and SIPS scores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spc="-70" dirty="0">
                <a:solidFill>
                  <a:srgbClr val="000000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These scores serve as the objective signal for the optimizer LLM during iterative refinement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Prompt optimization successfully reduces SIPS, AS, and AC score</a:t>
            </a:r>
            <a:r>
              <a:rPr lang="en-US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</a:t>
            </a:r>
            <a:endParaRPr lang="en" altLang="ko-KR" sz="3200" b="1" u="sng" dirty="0">
              <a:solidFill>
                <a:srgbClr val="0C2E86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DF9E2B2B-813C-B538-B0AC-3E4C396C7C4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324695" y="26051495"/>
            <a:ext cx="5604039" cy="2588598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D9A191-6C8F-C826-38E9-A3E68A82B509}"/>
              </a:ext>
            </a:extLst>
          </p:cNvPr>
          <p:cNvSpPr/>
          <p:nvPr/>
        </p:nvSpPr>
        <p:spPr>
          <a:xfrm>
            <a:off x="17190165" y="21213545"/>
            <a:ext cx="10041855" cy="640519"/>
          </a:xfrm>
          <a:prstGeom prst="rect">
            <a:avLst/>
          </a:prstGeom>
          <a:noFill/>
          <a:ln w="38100">
            <a:solidFill>
              <a:srgbClr val="0C2E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339460-E2D6-2191-5F96-92D722C5188E}"/>
              </a:ext>
            </a:extLst>
          </p:cNvPr>
          <p:cNvSpPr txBox="1"/>
          <p:nvPr/>
        </p:nvSpPr>
        <p:spPr>
          <a:xfrm>
            <a:off x="13309329" y="28766993"/>
            <a:ext cx="16081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R" sz="3200" dirty="0"/>
              <a:t>LLM bias toward media outlet names appears to </a:t>
            </a: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stem from training data</a:t>
            </a:r>
            <a:r>
              <a:rPr lang="en" altLang="ko-KR" sz="3200" dirty="0"/>
              <a:t> (</a:t>
            </a:r>
            <a:r>
              <a:rPr lang="ko-KR" altLang="en-US" sz="3200" dirty="0"/>
              <a:t>←</a:t>
            </a:r>
            <a:r>
              <a:rPr lang="en" altLang="ko-KR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Bias </a:t>
            </a:r>
            <a:r>
              <a:rPr lang="en" altLang="ko-KR" sz="3200" dirty="0"/>
              <a:t>becomes more </a:t>
            </a: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pronounced when article content is neutral</a:t>
            </a:r>
            <a:r>
              <a:rPr lang="en" altLang="ko-KR" sz="3200" dirty="0"/>
              <a:t> (</a:t>
            </a:r>
            <a:r>
              <a:rPr lang="ko-KR" altLang="en-US" sz="3200" dirty="0"/>
              <a:t>↑</a:t>
            </a:r>
            <a:r>
              <a:rPr lang="en" altLang="ko-KR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LLM</a:t>
            </a:r>
            <a:r>
              <a:rPr lang="en" altLang="ko-KR" sz="3200" dirty="0"/>
              <a:t> responds to </a:t>
            </a:r>
            <a:r>
              <a:rPr lang="en" altLang="ko-KR" sz="3200" b="1" u="sng" dirty="0">
                <a:solidFill>
                  <a:srgbClr val="0C2E86"/>
                </a:solidFill>
                <a:latin typeface="Apple SD Gothic Neo Medium" panose="02000300000000000000" pitchFamily="2" charset="-127"/>
                <a:ea typeface="Apple SD Gothic Neo Medium" panose="02000300000000000000" pitchFamily="2" charset="-127"/>
              </a:rPr>
              <a:t>implied ideological cues in media names</a:t>
            </a:r>
            <a:r>
              <a:rPr lang="en" altLang="ko-KR" sz="3200" dirty="0"/>
              <a:t> (</a:t>
            </a:r>
            <a:r>
              <a:rPr lang="ko-KR" altLang="en-US" sz="3200" dirty="0"/>
              <a:t>→</a:t>
            </a:r>
            <a:r>
              <a:rPr lang="en" altLang="ko-KR" sz="3200" dirty="0"/>
              <a:t>)</a:t>
            </a:r>
            <a:endParaRPr lang="en" altLang="ko-KR" sz="3200" spc="-70" dirty="0">
              <a:solidFill>
                <a:srgbClr val="000000"/>
              </a:solidFill>
              <a:latin typeface="Apple SD Gothic Neo Medium" panose="02000300000000000000" pitchFamily="2" charset="-127"/>
              <a:ea typeface="Apple SD Gothic Neo Medium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86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4966</TotalTime>
  <Words>810</Words>
  <Application>Microsoft Macintosh PowerPoint</Application>
  <PresentationFormat>사용자 지정</PresentationFormat>
  <Paragraphs>80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맑은 고딕</vt:lpstr>
      <vt:lpstr>Apple SD Gothic Neo</vt:lpstr>
      <vt:lpstr>Apple SD Gothic Neo ExtraBold</vt:lpstr>
      <vt:lpstr>Apple SD Gothic Neo Medium</vt:lpstr>
      <vt:lpstr>Apple SD Gothic Neo Medium</vt:lpstr>
      <vt:lpstr>Aptos</vt:lpstr>
      <vt:lpstr>Aptos Display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53</cp:revision>
  <dcterms:created xsi:type="dcterms:W3CDTF">2024-10-17T09:08:27Z</dcterms:created>
  <dcterms:modified xsi:type="dcterms:W3CDTF">2025-10-29T04:59:04Z</dcterms:modified>
</cp:coreProperties>
</file>